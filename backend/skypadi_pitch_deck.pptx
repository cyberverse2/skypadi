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-2743200"/>
            <a:ext cx="5486400" cy="5486400"/>
          </a:xfrm>
          <a:prstGeom prst="ellipse">
            <a:avLst/>
          </a:prstGeom>
          <a:solidFill>
            <a:srgbClr val="25D36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2743200"/>
            <a:ext cx="6400800" cy="640080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457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SKYPADI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flights.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faster.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from WhatsApp.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4663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trip once. Compare options. Pay securely. Get ticketed. All in one chat.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5760720"/>
            <a:ext cx="1892808" cy="411480"/>
          </a:xfrm>
          <a:prstGeom prst="roundRect">
            <a:avLst>
              <a:gd name="adj" fmla="val 48889"/>
            </a:avLst>
          </a:prstGeom>
          <a:solidFill>
            <a:srgbClr val="25D366">
              <a:alpha val="25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760720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15768" y="5760720"/>
            <a:ext cx="2249424" cy="411480"/>
          </a:xfrm>
          <a:prstGeom prst="roundRect">
            <a:avLst>
              <a:gd name="adj" fmla="val 48889"/>
            </a:avLst>
          </a:prstGeom>
          <a:solidFill>
            <a:srgbClr val="25D366">
              <a:alpha val="25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15768" y="576072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beachhead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48072" y="5760720"/>
            <a:ext cx="1892808" cy="411480"/>
          </a:xfrm>
          <a:prstGeom prst="roundRect">
            <a:avLst>
              <a:gd name="adj" fmla="val 48889"/>
            </a:avLst>
          </a:prstGeom>
          <a:solidFill>
            <a:srgbClr val="25D366">
              <a:alpha val="25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48072" y="5760720"/>
            <a:ext cx="189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human ops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822960"/>
            <a:ext cx="3200400" cy="5212080"/>
          </a:xfrm>
          <a:prstGeom prst="roundRect">
            <a:avLst>
              <a:gd name="adj" fmla="val 7143"/>
            </a:avLst>
          </a:prstGeom>
          <a:solidFill>
            <a:srgbClr val="0E2A47"/>
          </a:solidFill>
          <a:ln w="25400">
            <a:solidFill>
              <a:srgbClr val="25D366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49640" y="868680"/>
            <a:ext cx="3108960" cy="50292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96012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006840" y="941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Skypadi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006840" y="11155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9098280" y="1508760"/>
            <a:ext cx="2468880" cy="694944"/>
          </a:xfrm>
          <a:prstGeom prst="roundRect">
            <a:avLst>
              <a:gd name="adj" fmla="val 10526"/>
            </a:avLst>
          </a:prstGeom>
          <a:solidFill>
            <a:srgbClr val="25D366"/>
          </a:solidFill>
          <a:ln/>
        </p:spPr>
      </p:sp>
      <p:sp>
        <p:nvSpPr>
          <p:cNvPr id="21" name="Text 17"/>
          <p:cNvSpPr/>
          <p:nvPr/>
        </p:nvSpPr>
        <p:spPr>
          <a:xfrm>
            <a:off x="9189720" y="154533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cheapest Lagos to Abuja tomorrow morning.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8641080" y="2313432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8732520" y="2350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5 live options. Cheapest 7:45am ₦118k. Best value 9:10am ₦124k with 20kg bag.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9098280" y="3319272"/>
            <a:ext cx="2468880" cy="694944"/>
          </a:xfrm>
          <a:prstGeom prst="roundRect">
            <a:avLst>
              <a:gd name="adj" fmla="val 10526"/>
            </a:avLst>
          </a:prstGeom>
          <a:solidFill>
            <a:srgbClr val="25D366"/>
          </a:solidFill>
          <a:ln/>
        </p:spPr>
      </p:sp>
      <p:sp>
        <p:nvSpPr>
          <p:cNvPr id="25" name="Text 21"/>
          <p:cNvSpPr/>
          <p:nvPr/>
        </p:nvSpPr>
        <p:spPr>
          <a:xfrm>
            <a:off x="9189720" y="33558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best value. Pay by transfer.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8641080" y="4123944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27" name="Text 23"/>
          <p:cNvSpPr/>
          <p:nvPr/>
        </p:nvSpPr>
        <p:spPr>
          <a:xfrm>
            <a:off x="8732520" y="4160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link sent. Ticket and PNR will arrive here after confirmation.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8641080" y="5129784"/>
            <a:ext cx="2468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sp>
        <p:nvSpPr>
          <p:cNvPr id="29" name="Text 25"/>
          <p:cNvSpPr/>
          <p:nvPr/>
        </p:nvSpPr>
        <p:spPr>
          <a:xfrm>
            <a:off x="8732520" y="5166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PNR: 4T9K2Q. I'll watch this flight and alert you to changes.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and booking the right flight takes too much work.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5720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 want the best option for their time and budget — but today they repeat the same search and booking steps across multiple sites.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Travellers don't want to fill the same travel forms again and again. They want to say the trip once, compare fast, and book from one familiar thread.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783080"/>
            <a:ext cx="27889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05740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4652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Repeated search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4652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airline and OTA websites for every trip.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89720" y="178308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89720" y="1783080"/>
            <a:ext cx="27889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05740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41832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fatigue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41832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times, baggage, restrictions all juggled.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17920" y="388620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3886200"/>
            <a:ext cx="27889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1605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46520" y="4709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Re-entered forms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46520" y="5074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passenger details typed again and again.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189720" y="3886200"/>
            <a:ext cx="2788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89720" y="3886200"/>
            <a:ext cx="27889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41605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18320" y="4709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Scattered follow-up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418320" y="5074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Receipts, PNRs, support split across channels.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6446520"/>
            <a:ext cx="365760" cy="1828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SKYPADI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the trip once. Skypadi handles the repeated work.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Skypadi your trip once. It searches across options, explains the tradeoffs, reuses your details, and helps complete the booking — in WhatsApp.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3291840"/>
            <a:ext cx="594360" cy="594360"/>
          </a:xfrm>
          <a:prstGeom prst="ellipse">
            <a:avLst/>
          </a:prstGeom>
          <a:solidFill>
            <a:srgbClr val="25D366">
              <a:alpha val="1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015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2735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Plain-language search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08760" y="36393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natural requests into ranked, comparable options.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51960" y="301752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80560" y="3291840"/>
            <a:ext cx="594360" cy="594360"/>
          </a:xfrm>
          <a:prstGeom prst="ellipse">
            <a:avLst/>
          </a:prstGeom>
          <a:solidFill>
            <a:srgbClr val="25D366">
              <a:alpha val="15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340156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0" y="32735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at a glance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212080" y="36393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fare, baggage, restrictions, and payment side-by-side.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955280" y="301752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183880" y="3291840"/>
            <a:ext cx="594360" cy="594360"/>
          </a:xfrm>
          <a:prstGeom prst="ellipse">
            <a:avLst/>
          </a:prstGeom>
          <a:solidFill>
            <a:srgbClr val="25D366">
              <a:alpha val="15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340156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15400" y="32735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Reuse details, with consent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915400" y="36393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and contact details collected once.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7548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5029200"/>
            <a:ext cx="594360" cy="594360"/>
          </a:xfrm>
          <a:prstGeom prst="ellipse">
            <a:avLst/>
          </a:prstGeom>
          <a:solidFill>
            <a:srgbClr val="25D366">
              <a:alpha val="15000"/>
            </a:srgbClr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138928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5010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payments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508760" y="53766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Provider-hosted links, transfer, USSD, or card.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251960" y="47548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480560" y="5029200"/>
            <a:ext cx="594360" cy="594360"/>
          </a:xfrm>
          <a:prstGeom prst="ellipse">
            <a:avLst/>
          </a:prstGeom>
          <a:solidFill>
            <a:srgbClr val="25D366">
              <a:alpha val="15000"/>
            </a:srgbClr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0288" y="5138928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12080" y="5010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thread, end-to-end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5212080" y="53766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PNR, receipt, itinerary, alerts and changes in chat.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7955280" y="47548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183880" y="5029200"/>
            <a:ext cx="594360" cy="594360"/>
          </a:xfrm>
          <a:prstGeom prst="ellipse">
            <a:avLst/>
          </a:prstGeom>
          <a:solidFill>
            <a:srgbClr val="25D366">
              <a:alpha val="15000"/>
            </a:srgbClr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608" y="5138928"/>
            <a:ext cx="384048" cy="38404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915400" y="5010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handoff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8915400" y="53766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cases, fraud flags, refunds routed to trained agents.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548640" y="6446520"/>
            <a:ext cx="365760" cy="1828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SKYPADI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PRODUCT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chat request to ticketed itinerary.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70660" y="2606040"/>
            <a:ext cx="9220200" cy="0"/>
          </a:xfrm>
          <a:prstGeom prst="line">
            <a:avLst/>
          </a:prstGeom>
          <a:noFill/>
          <a:ln w="25400">
            <a:solidFill>
              <a:srgbClr val="25D36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22020" y="20574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D36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052" y="2313432"/>
            <a:ext cx="585216" cy="5852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53540" y="20116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16535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3246120"/>
            <a:ext cx="1844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once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3520440"/>
            <a:ext cx="175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LOS-ABV tomorrow am.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66060" y="20574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D36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092" y="2313432"/>
            <a:ext cx="585216" cy="5852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97580" y="20116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2"/>
          <p:cNvSpPr/>
          <p:nvPr/>
        </p:nvSpPr>
        <p:spPr>
          <a:xfrm>
            <a:off x="34975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392680" y="3246120"/>
            <a:ext cx="1844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438400" y="3520440"/>
            <a:ext cx="175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fares + rules.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610100" y="20574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D36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132" y="2313432"/>
            <a:ext cx="585216" cy="58521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341620" y="20116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17"/>
          <p:cNvSpPr/>
          <p:nvPr/>
        </p:nvSpPr>
        <p:spPr>
          <a:xfrm>
            <a:off x="53416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236720" y="3246120"/>
            <a:ext cx="1844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282440" y="3520440"/>
            <a:ext cx="175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passenger details.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454140" y="20574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D36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172" y="2313432"/>
            <a:ext cx="585216" cy="58521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185660" y="20116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8" name="Text 22"/>
          <p:cNvSpPr/>
          <p:nvPr/>
        </p:nvSpPr>
        <p:spPr>
          <a:xfrm>
            <a:off x="71856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080760" y="3246120"/>
            <a:ext cx="1844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126480" y="3520440"/>
            <a:ext cx="175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· transfer · USSD · card.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8298180" y="20574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D36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212" y="2313432"/>
            <a:ext cx="585216" cy="585216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9029700" y="20116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27"/>
          <p:cNvSpPr/>
          <p:nvPr/>
        </p:nvSpPr>
        <p:spPr>
          <a:xfrm>
            <a:off x="90297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924800" y="3246120"/>
            <a:ext cx="1844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7970520" y="3520440"/>
            <a:ext cx="175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· receipt · itinerary.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10142220" y="20574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D36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8252" y="2313432"/>
            <a:ext cx="585216" cy="585216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10873740" y="20116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0" name="Text 32"/>
          <p:cNvSpPr/>
          <p:nvPr/>
        </p:nvSpPr>
        <p:spPr>
          <a:xfrm>
            <a:off x="108737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9768840" y="3246120"/>
            <a:ext cx="1844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9814560" y="3520440"/>
            <a:ext cx="175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· changes · human.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54864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control plane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548640" y="4434840"/>
            <a:ext cx="2167128" cy="14630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617720"/>
            <a:ext cx="411480" cy="41148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31520" y="507492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Business + Flows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731520" y="5367528"/>
            <a:ext cx="180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prompts, templates, support thread.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2807208" y="4434840"/>
            <a:ext cx="2167128" cy="14630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0088" y="4617720"/>
            <a:ext cx="411480" cy="41148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2990088" y="507492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travel brain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2990088" y="5367528"/>
            <a:ext cx="180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Intent, profile, fare explanation, multilingual.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5065776" y="4434840"/>
            <a:ext cx="2167128" cy="14630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8656" y="4617720"/>
            <a:ext cx="411480" cy="411480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5248656" y="507492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layer</a:t>
            </a:r>
            <a:endParaRPr lang="en-US" sz="1200" dirty="0"/>
          </a:p>
        </p:txBody>
      </p:sp>
      <p:sp>
        <p:nvSpPr>
          <p:cNvPr id="55" name="Text 44"/>
          <p:cNvSpPr/>
          <p:nvPr/>
        </p:nvSpPr>
        <p:spPr>
          <a:xfrm>
            <a:off x="5248656" y="5367528"/>
            <a:ext cx="180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Airline, OTA, GDS, NDC with fare-rule validation.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7324344" y="4434840"/>
            <a:ext cx="2167128" cy="14630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7224" y="4617720"/>
            <a:ext cx="411480" cy="411480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7507224" y="507492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 + reconciliation</a:t>
            </a:r>
            <a:endParaRPr lang="en-US" sz="1200" dirty="0"/>
          </a:p>
        </p:txBody>
      </p:sp>
      <p:sp>
        <p:nvSpPr>
          <p:cNvPr id="59" name="Text 47"/>
          <p:cNvSpPr/>
          <p:nvPr/>
        </p:nvSpPr>
        <p:spPr>
          <a:xfrm>
            <a:off x="7507224" y="5367528"/>
            <a:ext cx="180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provider flows, never card-in-chat.</a:t>
            </a:r>
            <a:endParaRPr lang="en-US" sz="900" dirty="0"/>
          </a:p>
        </p:txBody>
      </p:sp>
      <p:sp>
        <p:nvSpPr>
          <p:cNvPr id="60" name="Shape 48"/>
          <p:cNvSpPr/>
          <p:nvPr/>
        </p:nvSpPr>
        <p:spPr>
          <a:xfrm>
            <a:off x="9582912" y="4434840"/>
            <a:ext cx="2167128" cy="14630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65792" y="4617720"/>
            <a:ext cx="411480" cy="41148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9765792" y="507492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+ human agents</a:t>
            </a:r>
            <a:endParaRPr lang="en-US" sz="1200" dirty="0"/>
          </a:p>
        </p:txBody>
      </p:sp>
      <p:sp>
        <p:nvSpPr>
          <p:cNvPr id="63" name="Text 50"/>
          <p:cNvSpPr/>
          <p:nvPr/>
        </p:nvSpPr>
        <p:spPr>
          <a:xfrm>
            <a:off x="9765792" y="5367528"/>
            <a:ext cx="1801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reissues, exceptions, SLA tracking.</a:t>
            </a:r>
            <a:endParaRPr lang="en-US" sz="900" dirty="0"/>
          </a:p>
        </p:txBody>
      </p:sp>
      <p:sp>
        <p:nvSpPr>
          <p:cNvPr id="64" name="Shape 51"/>
          <p:cNvSpPr/>
          <p:nvPr/>
        </p:nvSpPr>
        <p:spPr>
          <a:xfrm>
            <a:off x="548640" y="603504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F96167">
              <a:alpha val="15000"/>
            </a:srgbClr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232" y="6108192"/>
            <a:ext cx="274320" cy="274320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1097280" y="6035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 — never ask for full card or bank account numbers in chat. Sensitive payment is pushed to a secure provider flow.</a:t>
            </a:r>
            <a:endParaRPr lang="en-US" sz="1050" dirty="0"/>
          </a:p>
        </p:txBody>
      </p:sp>
      <p:sp>
        <p:nvSpPr>
          <p:cNvPr id="67" name="Shape 53"/>
          <p:cNvSpPr/>
          <p:nvPr/>
        </p:nvSpPr>
        <p:spPr>
          <a:xfrm>
            <a:off x="548640" y="6446520"/>
            <a:ext cx="365760" cy="1828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68" name="Text 54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SKYPADI</a:t>
            </a:r>
            <a:endParaRPr lang="en-US" sz="900" dirty="0"/>
          </a:p>
        </p:txBody>
      </p:sp>
      <p:sp>
        <p:nvSpPr>
          <p:cNvPr id="69" name="Text 55"/>
          <p:cNvSpPr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African flight demand spans local, regional, and international trips.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4572000"/>
          </a:xfrm>
          <a:prstGeom prst="roundRect">
            <a:avLst>
              <a:gd name="adj" fmla="val 2800"/>
            </a:avLst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113M</a:t>
            </a:r>
            <a:endParaRPr lang="en-US" sz="9200" dirty="0"/>
          </a:p>
        </p:txBody>
      </p:sp>
      <p:sp>
        <p:nvSpPr>
          <p:cNvPr id="9" name="Text 6"/>
          <p:cNvSpPr/>
          <p:nvPr/>
        </p:nvSpPr>
        <p:spPr>
          <a:xfrm>
            <a:off x="77724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African airline passengers in 2025.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4800600"/>
            <a:ext cx="4480560" cy="0"/>
          </a:xfrm>
          <a:prstGeom prst="line">
            <a:avLst/>
          </a:prstGeom>
          <a:noFill/>
          <a:ln w="12700">
            <a:solidFill>
              <a:srgbClr val="25D3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937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411M passengers forecast over 20 years · 4.1% annual growth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5532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68.3% of African airline traffic was on international routes in 2024.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178308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1783080"/>
            <a:ext cx="73152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15.89M → 25.7M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72200" y="249631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passenger traffic 2023 → 2029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897112" y="178308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97112" y="1783080"/>
            <a:ext cx="73152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25712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$2.58B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125712" y="249631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aviation revenue projected by 2029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43600" y="3319272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0" y="3319272"/>
            <a:ext cx="73152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35021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₦153,648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172200" y="403250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specified-route airfare in Nigeria, Feb 2026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897112" y="3319272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97112" y="3319272"/>
            <a:ext cx="73152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25712" y="35021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+21.38% YoY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125712" y="403250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Airfare growth — willingness-to-pay rising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943600" y="4937760"/>
            <a:ext cx="5742432" cy="1417320"/>
          </a:xfrm>
          <a:prstGeom prst="roundRect">
            <a:avLst>
              <a:gd name="adj" fmla="val 6452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7220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IMPLICATION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72200" y="534924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winner is not only the cheapest quote — it's the fastest path from intent to comparison to booking to support.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6446520"/>
            <a:ext cx="365760" cy="1828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SKYPADI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stack: service fees first, ancillaries second, B2B later.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943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73152" cy="96012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3774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22677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service fee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96596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₦1,000–₦3,500 local per ticket. Higher for regional, international, and urgent reissues.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3172968"/>
            <a:ext cx="5943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172968"/>
            <a:ext cx="73152" cy="96012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3401568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447288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65960" y="3337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commission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965960" y="3675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where permitted and transparent.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4242816"/>
            <a:ext cx="5943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4242816"/>
            <a:ext cx="73152" cy="96012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77240" y="4471416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4517136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965960" y="44074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Ancillary attach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965960" y="47457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Bags, seats, insurance, hotels, transfers, lounge, protocol, visa support.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48640" y="5312664"/>
            <a:ext cx="5943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48640" y="5312664"/>
            <a:ext cx="73152" cy="96012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77240" y="5541264"/>
            <a:ext cx="502920" cy="502920"/>
          </a:xfrm>
          <a:prstGeom prst="ellipse">
            <a:avLst/>
          </a:prstGeom>
          <a:solidFill>
            <a:srgbClr val="0A1F44"/>
          </a:solidFill>
          <a:ln/>
        </p:spPr>
      </p:sp>
      <p:sp>
        <p:nvSpPr>
          <p:cNvPr id="30" name="Text 25"/>
          <p:cNvSpPr/>
          <p:nvPr/>
        </p:nvSpPr>
        <p:spPr>
          <a:xfrm>
            <a:off x="777240" y="5541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5586984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965960" y="54772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 travel desk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965960" y="58155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subscription: approvals, receipts, team ledger, consolidated support.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766560" y="1828800"/>
            <a:ext cx="4846320" cy="4572000"/>
          </a:xfrm>
          <a:prstGeom prst="roundRect">
            <a:avLst>
              <a:gd name="adj" fmla="val 2800"/>
            </a:avLst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2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69951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UNIT ECONOMICS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995160" y="2377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₦153,648</a:t>
            </a:r>
            <a:endParaRPr lang="en-US" sz="3600" dirty="0"/>
          </a:p>
        </p:txBody>
      </p:sp>
      <p:sp>
        <p:nvSpPr>
          <p:cNvPr id="37" name="Text 31"/>
          <p:cNvSpPr/>
          <p:nvPr/>
        </p:nvSpPr>
        <p:spPr>
          <a:xfrm>
            <a:off x="699516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ticket value · avg specified-route airfare, Feb 2026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995160" y="3520440"/>
            <a:ext cx="4434840" cy="0"/>
          </a:xfrm>
          <a:prstGeom prst="line">
            <a:avLst/>
          </a:prstGeom>
          <a:noFill/>
          <a:ln w="12700">
            <a:solidFill>
              <a:srgbClr val="25D366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99516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D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₦2,000 – ₦5,000</a:t>
            </a:r>
            <a:endParaRPr lang="en-US" sz="2800" dirty="0"/>
          </a:p>
        </p:txBody>
      </p:sp>
      <p:sp>
        <p:nvSpPr>
          <p:cNvPr id="40" name="Text 34"/>
          <p:cNvSpPr/>
          <p:nvPr/>
        </p:nvSpPr>
        <p:spPr>
          <a:xfrm>
            <a:off x="6995160" y="4206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per ticket — convenience fee plus supplier or ancillary economics.</a:t>
            </a:r>
            <a:endParaRPr lang="en-US" sz="105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4983480"/>
            <a:ext cx="292608" cy="29260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360920" y="4946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cost falls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7360920" y="5184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repeat search and FAQs; humans handle exceptions.</a:t>
            </a:r>
            <a:endParaRPr lang="en-US" sz="95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5669280"/>
            <a:ext cx="292608" cy="29260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7360920" y="5632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lever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7360920" y="58704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Post-booking thread: alerts, receipts, changes, family sharing.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548640" y="6446520"/>
            <a:ext cx="365760" cy="1828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SKYPADI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GO TO 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local routes. Then expand across African corridors.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3657600" cy="64008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562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0–90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licensed agency / OTA inventory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3 high-frequency local routes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manual + AI hybrid operations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quote-to-book and handoff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178308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5968" y="1783080"/>
            <a:ext cx="36576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8562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90288" y="2075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0288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users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90288" y="3108960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SME travel desks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links + saved itineraries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deal alerts across Africa corridors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human support SLAs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83296" y="178308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83296" y="1783080"/>
            <a:ext cx="3657600" cy="640080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18562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57616" y="2075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57616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57616" y="3108960"/>
            <a:ext cx="3154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+ international corridors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transfers, visa help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network or white-label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reporting + approvals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KPIs</a:t>
            </a:r>
            <a:endParaRPr lang="en-US" sz="1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15000"/>
            <a:ext cx="228600" cy="228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69848" y="5669280"/>
            <a:ext cx="147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Quote-to-book conversion</a:t>
            </a:r>
            <a:endParaRPr lang="en-US" sz="9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080" y="5715000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2837688" y="5669280"/>
            <a:ext cx="147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success rate</a:t>
            </a:r>
            <a:endParaRPr lang="en-US" sz="9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920" y="5715000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605528" y="5669280"/>
            <a:ext cx="147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</a:t>
            </a:r>
            <a:endParaRPr lang="en-US" sz="9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571500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373368" y="5669280"/>
            <a:ext cx="147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handoff rate</a:t>
            </a:r>
            <a:endParaRPr lang="en-US" sz="9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600" y="5715000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141208" y="5669280"/>
            <a:ext cx="147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Refund/reissue turnaround</a:t>
            </a:r>
            <a:endParaRPr lang="en-US" sz="9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6440" y="5715000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909048" y="5669280"/>
            <a:ext cx="147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booking rate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548640" y="6446520"/>
            <a:ext cx="365760" cy="1828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SKYPADI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06424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-2743200"/>
            <a:ext cx="5486400" cy="5486400"/>
          </a:xfrm>
          <a:prstGeom prst="ellipse">
            <a:avLst/>
          </a:prstGeom>
          <a:solidFill>
            <a:srgbClr val="25D36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2743200"/>
            <a:ext cx="6400800" cy="6400800"/>
          </a:xfrm>
          <a:prstGeom prst="ellipse">
            <a:avLst/>
          </a:prstGeom>
          <a:solidFill>
            <a:srgbClr val="F96167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DEMO TRACTION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demo proves the workflow before full scale.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SCOPE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303520" cy="5029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0428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194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starts in WhatsApp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788920"/>
            <a:ext cx="5303520" cy="5029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9864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788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 ranked options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383280"/>
            <a:ext cx="5303520" cy="5029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9300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383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rules in plain language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3977640"/>
            <a:ext cx="5303520" cy="5029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8736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9776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passenger prompts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572000"/>
            <a:ext cx="5303520" cy="5029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68172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572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provider handoff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40080" y="5166360"/>
            <a:ext cx="5303520" cy="50292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276088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88720" y="5166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PNR, itinerary, support — same thread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30936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PROVES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309360" y="2267712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8" name="Text 20"/>
          <p:cNvSpPr/>
          <p:nvPr/>
        </p:nvSpPr>
        <p:spPr>
          <a:xfrm>
            <a:off x="630936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6858000" y="2194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signal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6858000" y="24871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routes, dates, budgets stated inside WhatsApp.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309360" y="3227832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2" name="Text 24"/>
          <p:cNvSpPr/>
          <p:nvPr/>
        </p:nvSpPr>
        <p:spPr>
          <a:xfrm>
            <a:off x="630936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6858000" y="3154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convenience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858000" y="34472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move forward without re-entering details.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309360" y="4187952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28"/>
          <p:cNvSpPr/>
          <p:nvPr/>
        </p:nvSpPr>
        <p:spPr>
          <a:xfrm>
            <a:off x="630936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6858000" y="4114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readiness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6858000" y="44074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separates low-risk from human handoff.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6309360" y="5148072"/>
            <a:ext cx="411480" cy="4114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0" name="Text 32"/>
          <p:cNvSpPr/>
          <p:nvPr/>
        </p:nvSpPr>
        <p:spPr>
          <a:xfrm>
            <a:off x="6309360" y="5148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6858000" y="5074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Repeatable workflow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6858000" y="53675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scales from local → regional → intercontinental.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640080" y="5989320"/>
            <a:ext cx="11155680" cy="50292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40080" y="5989320"/>
            <a:ext cx="185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conversations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2499360" y="6080760"/>
            <a:ext cx="0" cy="3200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2499360" y="5989320"/>
            <a:ext cx="185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booking intents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4358640" y="6080760"/>
            <a:ext cx="0" cy="3200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4358640" y="5989320"/>
            <a:ext cx="185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→ payment-link conv.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6217920" y="6080760"/>
            <a:ext cx="0" cy="3200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6217920" y="5989320"/>
            <a:ext cx="185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8077200" y="6080760"/>
            <a:ext cx="0" cy="3200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8077200" y="5989320"/>
            <a:ext cx="185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rate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9936480" y="6080760"/>
            <a:ext cx="0" cy="3200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9936480" y="5989320"/>
            <a:ext cx="185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requested routes</a:t>
            </a:r>
            <a:endParaRPr lang="en-US" sz="1000" dirty="0"/>
          </a:p>
        </p:txBody>
      </p:sp>
      <p:sp>
        <p:nvSpPr>
          <p:cNvPr id="55" name="Text 47"/>
          <p:cNvSpPr/>
          <p:nvPr/>
        </p:nvSpPr>
        <p:spPr>
          <a:xfrm>
            <a:off x="640080" y="658368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Skypadi · WhatsApp-first flight booking · Nigeria → Africa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Skypadi Pitch Deck</dc:title>
  <dc:subject>PptxGenJS Presentation</dc:subject>
  <dc:creator>Skypadi</dc:creator>
  <cp:lastModifiedBy>Skypadi</cp:lastModifiedBy>
  <cp:revision>1</cp:revision>
  <dcterms:created xsi:type="dcterms:W3CDTF">2026-04-29T14:52:09Z</dcterms:created>
  <dcterms:modified xsi:type="dcterms:W3CDTF">2026-04-29T14:52:09Z</dcterms:modified>
</cp:coreProperties>
</file>